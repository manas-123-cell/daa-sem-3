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 log n</c:v>
                </c:pt>
              </c:strCache>
            </c:strRef>
          </c:tx>
          <c:spPr>
            <a:solidFill>
              <a:srgbClr val="55637A"/>
            </a:solidFill>
            <a:ln w="38100" cap="flat">
              <a:solidFill>
                <a:srgbClr val="5563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5637A"/>
              </a:solidFill>
              <a:ln w="9525" cap="flat">
                <a:solidFill>
                  <a:srgbClr val="5563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8</c:v>
                </c:pt>
                <c:pt idx="2">
                  <c:v>24</c:v>
                </c:pt>
                <c:pt idx="3">
                  <c:v>64</c:v>
                </c:pt>
                <c:pt idx="4">
                  <c:v>160</c:v>
                </c:pt>
                <c:pt idx="5">
                  <c:v>384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n²</c:v>
                </c:pt>
              </c:strCache>
            </c:strRef>
          </c:tx>
          <c:spPr>
            <a:solidFill>
              <a:srgbClr val="0E7C86"/>
            </a:solidFill>
            <a:ln w="38100" cap="flat">
              <a:solidFill>
                <a:srgbClr val="0E7C8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16</c:v>
                </c:pt>
                <c:pt idx="2">
                  <c:v>64</c:v>
                </c:pt>
                <c:pt idx="3">
                  <c:v>256</c:v>
                </c:pt>
                <c:pt idx="4">
                  <c:v>1024</c:v>
                </c:pt>
                <c:pt idx="5">
                  <c:v>4096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n² log n</c:v>
                </c:pt>
              </c:strCache>
            </c:strRef>
          </c:tx>
          <c:spPr>
            <a:solidFill>
              <a:srgbClr val="E0A030"/>
            </a:solidFill>
            <a:ln w="38100" cap="flat">
              <a:solidFill>
                <a:srgbClr val="E0A03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A030"/>
              </a:solidFill>
              <a:ln w="9525" cap="flat">
                <a:solidFill>
                  <a:srgbClr val="E0A03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</c:v>
                  </c:pt>
                  <c:pt idx="1">
                    <c:v>4</c:v>
                  </c:pt>
                  <c:pt idx="2">
                    <c:v>8</c:v>
                  </c:pt>
                  <c:pt idx="3">
                    <c:v>16</c:v>
                  </c:pt>
                  <c:pt idx="4">
                    <c:v>32</c:v>
                  </c:pt>
                  <c:pt idx="5">
                    <c:v>64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4</c:v>
                </c:pt>
                <c:pt idx="1">
                  <c:v>32</c:v>
                </c:pt>
                <c:pt idx="2">
                  <c:v>192</c:v>
                </c:pt>
                <c:pt idx="3">
                  <c:v>1024</c:v>
                </c:pt>
                <c:pt idx="4">
                  <c:v>5120</c:v>
                </c:pt>
                <c:pt idx="5">
                  <c:v>24576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5637A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5637A"/>
                    </a:solidFill>
                    <a:latin typeface="+mn-lt"/>
                  </a:rPr>
                  <a:t>Input size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3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9525" cap="flat">
              <a:solidFill>
                <a:srgbClr val="DCE3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3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213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a short lecture on predicting the running time of divide-and-conquer algorithms with the Master’s Theorem.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recurrence, compute q, compare with k, then conclude.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recurrence describes the cost of a problem in terms of smaller copies of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on the board illustrate how a big problem splits into smaller ones with extra work outside the recursive calls.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Blocks arranged as a tree represent the recursion; the leaves grow like n to the power 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q with k shows whether the leaves, the whole tree or the root dominates the total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extended Master Theorem. The video focuses on the q = k case; the other rows complete the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lecturer solves the recurrence on the board in four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recursion level costs n² in total, and the tree has log₂ n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 counts for input sizes n = 2 to 64 (log scale). The extra log n factor is small next to the n²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Predicting Time Complexity  |  The Master’s Theorem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ALGORITHM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Predict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Complexity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systematic approach using the Master’s Theorem</a:t>
            </a:r>
            <a:endParaRPr lang="en-US" sz="1800" dirty="0"/>
          </a:p>
        </p:txBody>
      </p:sp>
      <p:sp>
        <p:nvSpPr>
          <p:cNvPr id="5" name="formula panel"/>
          <p:cNvSpPr/>
          <p:nvPr/>
        </p:nvSpPr>
        <p:spPr>
          <a:xfrm>
            <a:off x="6126480" y="914400"/>
            <a:ext cx="2468880" cy="3108960"/>
          </a:xfrm>
          <a:prstGeom prst="roundRect">
            <a:avLst>
              <a:gd name="adj" fmla="val 37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11887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RECURRENCE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691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T(n) =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a · T(n/b)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971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+ f(n)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Four-Step Recipe</a:t>
            </a:r>
            <a:endParaRPr lang="en-US" sz="3000" dirty="0"/>
          </a:p>
        </p:txBody>
      </p:sp>
      <p:sp>
        <p:nvSpPr>
          <p:cNvPr id="4" name="step card 1"/>
          <p:cNvSpPr/>
          <p:nvPr/>
        </p:nvSpPr>
        <p:spPr>
          <a:xfrm>
            <a:off x="548640" y="1371600"/>
            <a:ext cx="1874520" cy="29260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badge 1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recurrence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Identify a, b, k and p from T(n) = aT(n/b) + f(n)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2606040" y="1371600"/>
            <a:ext cx="1874520" cy="29260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27889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889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 q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30175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Compute q = log base b of a, the benchmark exponent</a:t>
            </a:r>
            <a:endParaRPr lang="en-US" sz="1400" dirty="0"/>
          </a:p>
        </p:txBody>
      </p:sp>
      <p:sp>
        <p:nvSpPr>
          <p:cNvPr id="14" name="step card 3"/>
          <p:cNvSpPr/>
          <p:nvPr/>
        </p:nvSpPr>
        <p:spPr>
          <a:xfrm>
            <a:off x="4663440" y="1371600"/>
            <a:ext cx="1874520" cy="29260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badge 3"/>
          <p:cNvSpPr/>
          <p:nvPr/>
        </p:nvSpPr>
        <p:spPr>
          <a:xfrm>
            <a:off x="48463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q and k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30175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Decide which part of the work dominates the total</a:t>
            </a:r>
            <a:endParaRPr lang="en-US" sz="1400" dirty="0"/>
          </a:p>
        </p:txBody>
      </p:sp>
      <p:sp>
        <p:nvSpPr>
          <p:cNvPr id="19" name="step card 4"/>
          <p:cNvSpPr/>
          <p:nvPr/>
        </p:nvSpPr>
        <p:spPr>
          <a:xfrm>
            <a:off x="6720840" y="1371600"/>
            <a:ext cx="1874520" cy="2926080"/>
          </a:xfrm>
          <a:prstGeom prst="roundRect">
            <a:avLst>
              <a:gd name="adj" fmla="val 3902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badge 4"/>
          <p:cNvSpPr/>
          <p:nvPr/>
        </p:nvSpPr>
        <p:spPr>
          <a:xfrm>
            <a:off x="6903720" y="15544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037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219456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case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30175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Apply the matching rule and write the Θ bound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Recurrence Formula</a:t>
            </a:r>
            <a:endParaRPr lang="en-US" sz="3000" dirty="0"/>
          </a:p>
        </p:txBody>
      </p:sp>
      <p:sp>
        <p:nvSpPr>
          <p:cNvPr id="4" name="formula banner"/>
          <p:cNvSpPr/>
          <p:nvPr/>
        </p:nvSpPr>
        <p:spPr>
          <a:xfrm>
            <a:off x="548640" y="1280160"/>
            <a:ext cx="8046720" cy="1325880"/>
          </a:xfrm>
          <a:prstGeom prst="roundRect">
            <a:avLst>
              <a:gd name="adj" fmla="val 551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a · T(n/b) + f(n)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where  f(n) = Θ( n^k · log^p n )</a:t>
            </a:r>
            <a:endParaRPr lang="en-US" sz="2000" dirty="0"/>
          </a:p>
        </p:txBody>
      </p:sp>
      <p:sp>
        <p:nvSpPr>
          <p:cNvPr id="7" name="term card a"/>
          <p:cNvSpPr/>
          <p:nvPr/>
        </p:nvSpPr>
        <p:spPr>
          <a:xfrm>
            <a:off x="548640" y="288036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6118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Number of subproblems</a:t>
            </a:r>
            <a:endParaRPr lang="en-US" sz="1400" dirty="0"/>
          </a:p>
        </p:txBody>
      </p:sp>
      <p:sp>
        <p:nvSpPr>
          <p:cNvPr id="10" name="term card b"/>
          <p:cNvSpPr/>
          <p:nvPr/>
        </p:nvSpPr>
        <p:spPr>
          <a:xfrm>
            <a:off x="2606040" y="288036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78892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36118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Factor the input shrinks by</a:t>
            </a:r>
            <a:endParaRPr lang="en-US" sz="1400" dirty="0"/>
          </a:p>
        </p:txBody>
      </p:sp>
      <p:sp>
        <p:nvSpPr>
          <p:cNvPr id="13" name="term card k"/>
          <p:cNvSpPr/>
          <p:nvPr/>
        </p:nvSpPr>
        <p:spPr>
          <a:xfrm>
            <a:off x="4663440" y="288036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84632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6118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 of n in the outside work</a:t>
            </a:r>
            <a:endParaRPr lang="en-US" sz="1400" dirty="0"/>
          </a:p>
        </p:txBody>
      </p:sp>
      <p:sp>
        <p:nvSpPr>
          <p:cNvPr id="16" name="term card p"/>
          <p:cNvSpPr/>
          <p:nvPr/>
        </p:nvSpPr>
        <p:spPr>
          <a:xfrm>
            <a:off x="6720840" y="2880360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90372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361188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 of the log factor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Work Comes From</a:t>
            </a:r>
            <a:endParaRPr lang="en-US" sz="3000" dirty="0"/>
          </a:p>
        </p:txBody>
      </p:sp>
      <p:sp>
        <p:nvSpPr>
          <p:cNvPr id="4" name="input row 1"/>
          <p:cNvSpPr/>
          <p:nvPr/>
        </p:nvSpPr>
        <p:spPr>
          <a:xfrm>
            <a:off x="548640" y="1280160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201168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Subproblems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17099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How many smaller copies the problem splits into</a:t>
            </a:r>
            <a:endParaRPr lang="en-US" sz="1300" dirty="0"/>
          </a:p>
        </p:txBody>
      </p:sp>
      <p:sp>
        <p:nvSpPr>
          <p:cNvPr id="8" name="input row 2"/>
          <p:cNvSpPr/>
          <p:nvPr/>
        </p:nvSpPr>
        <p:spPr>
          <a:xfrm>
            <a:off x="548640" y="2304288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2304288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n/b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2011680" y="2414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Size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273405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How large each subproblem is</a:t>
            </a:r>
            <a:endParaRPr lang="en-US" sz="1300" dirty="0"/>
          </a:p>
        </p:txBody>
      </p:sp>
      <p:sp>
        <p:nvSpPr>
          <p:cNvPr id="12" name="input row 3"/>
          <p:cNvSpPr/>
          <p:nvPr/>
        </p:nvSpPr>
        <p:spPr>
          <a:xfrm>
            <a:off x="548640" y="3328416"/>
            <a:ext cx="49377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31520" y="3328416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f(n)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3438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Outside work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37581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Splitting and combining cost at each level</a:t>
            </a:r>
            <a:endParaRPr lang="en-US" sz="1300" dirty="0"/>
          </a:p>
        </p:txBody>
      </p:sp>
      <p:sp>
        <p:nvSpPr>
          <p:cNvPr id="16" name="tree card"/>
          <p:cNvSpPr/>
          <p:nvPr/>
        </p:nvSpPr>
        <p:spPr>
          <a:xfrm>
            <a:off x="5852160" y="1280160"/>
            <a:ext cx="2743200" cy="2898648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 flipH="1">
            <a:off x="6629400" y="1828800"/>
            <a:ext cx="59436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0" y="1828800"/>
            <a:ext cx="594360" cy="5486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 flipH="1">
            <a:off x="6355080" y="2651760"/>
            <a:ext cx="274320" cy="640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29400" y="2651760"/>
            <a:ext cx="274320" cy="640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H="1">
            <a:off x="7543800" y="2651760"/>
            <a:ext cx="274320" cy="640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18120" y="2651760"/>
            <a:ext cx="274320" cy="64008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</a:ln>
        </p:spPr>
      </p:sp>
      <p:sp>
        <p:nvSpPr>
          <p:cNvPr id="23" name="tree node 0"/>
          <p:cNvSpPr/>
          <p:nvPr/>
        </p:nvSpPr>
        <p:spPr>
          <a:xfrm>
            <a:off x="7086600" y="155448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4" name="tree node 1"/>
          <p:cNvSpPr/>
          <p:nvPr/>
        </p:nvSpPr>
        <p:spPr>
          <a:xfrm>
            <a:off x="6492240" y="23774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5" name="tree node 2"/>
          <p:cNvSpPr/>
          <p:nvPr/>
        </p:nvSpPr>
        <p:spPr>
          <a:xfrm>
            <a:off x="7680960" y="23774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6" name="tree node 3"/>
          <p:cNvSpPr/>
          <p:nvPr/>
        </p:nvSpPr>
        <p:spPr>
          <a:xfrm>
            <a:off x="6217920" y="32918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7" name="tree node 4"/>
          <p:cNvSpPr/>
          <p:nvPr/>
        </p:nvSpPr>
        <p:spPr>
          <a:xfrm>
            <a:off x="6766560" y="32918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8" name="tree node 5"/>
          <p:cNvSpPr/>
          <p:nvPr/>
        </p:nvSpPr>
        <p:spPr>
          <a:xfrm>
            <a:off x="7406640" y="32918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9" name="tree node 6"/>
          <p:cNvSpPr/>
          <p:nvPr/>
        </p:nvSpPr>
        <p:spPr>
          <a:xfrm>
            <a:off x="7955280" y="3291840"/>
            <a:ext cx="274320" cy="27432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Calculate q</a:t>
            </a:r>
            <a:endParaRPr lang="en-US" sz="3000" dirty="0"/>
          </a:p>
        </p:txBody>
      </p:sp>
      <p:sp>
        <p:nvSpPr>
          <p:cNvPr id="4" name="q card"/>
          <p:cNvSpPr/>
          <p:nvPr/>
        </p:nvSpPr>
        <p:spPr>
          <a:xfrm>
            <a:off x="548640" y="1280160"/>
            <a:ext cx="3931920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FORMULA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202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log_b(a)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8346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exponent for the benchmark: how fast the number of leaves grows as the tree gets deeper.</a:t>
            </a:r>
            <a:endParaRPr lang="en-US" sz="1600" dirty="0"/>
          </a:p>
        </p:txBody>
      </p:sp>
      <p:sp>
        <p:nvSpPr>
          <p:cNvPr id="8" name="benchmark card"/>
          <p:cNvSpPr/>
          <p:nvPr/>
        </p:nvSpPr>
        <p:spPr>
          <a:xfrm>
            <a:off x="4846320" y="1280160"/>
            <a:ext cx="3749040" cy="292608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2064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THE BENCHMARK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120640" y="18288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n^q</a:t>
            </a:r>
            <a:endParaRPr lang="en-US" sz="60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30175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sets the baseline that the outside work f(n) is compared against.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Compare q and k</a:t>
            </a:r>
            <a:endParaRPr lang="en-US" sz="3000" dirty="0"/>
          </a:p>
        </p:txBody>
      </p:sp>
      <p:sp>
        <p:nvSpPr>
          <p:cNvPr id="4" name="case card 1"/>
          <p:cNvSpPr/>
          <p:nvPr/>
        </p:nvSpPr>
        <p:spPr>
          <a:xfrm>
            <a:off x="5486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&gt; k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Leaves dominate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recursion does most of the work</a:t>
            </a:r>
            <a:endParaRPr lang="en-US" sz="1400" dirty="0"/>
          </a:p>
        </p:txBody>
      </p:sp>
      <p:sp>
        <p:nvSpPr>
          <p:cNvPr id="8" name="result chip 1"/>
          <p:cNvSpPr/>
          <p:nvPr/>
        </p:nvSpPr>
        <p:spPr>
          <a:xfrm>
            <a:off x="731520" y="3200400"/>
            <a:ext cx="2194560" cy="905256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3200400"/>
            <a:ext cx="2194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Θ(n^q)</a:t>
            </a:r>
            <a:endParaRPr lang="en-US" sz="1500" dirty="0"/>
          </a:p>
        </p:txBody>
      </p:sp>
      <p:sp>
        <p:nvSpPr>
          <p:cNvPr id="10" name="case card 2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5204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k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Balanced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Every level contributes equally; the log factor decides</a:t>
            </a:r>
            <a:endParaRPr lang="en-US" sz="1400" dirty="0"/>
          </a:p>
        </p:txBody>
      </p:sp>
      <p:sp>
        <p:nvSpPr>
          <p:cNvPr id="14" name="result chip 2"/>
          <p:cNvSpPr/>
          <p:nvPr/>
        </p:nvSpPr>
        <p:spPr>
          <a:xfrm>
            <a:off x="3474720" y="3200400"/>
            <a:ext cx="2194560" cy="905256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0" y="3200400"/>
            <a:ext cx="2194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Θ(n^k · log^(p+1) n)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when p &gt; −1</a:t>
            </a:r>
            <a:endParaRPr lang="en-US" sz="1500" dirty="0"/>
          </a:p>
        </p:txBody>
      </p:sp>
      <p:sp>
        <p:nvSpPr>
          <p:cNvPr id="16" name="case card 3"/>
          <p:cNvSpPr/>
          <p:nvPr/>
        </p:nvSpPr>
        <p:spPr>
          <a:xfrm>
            <a:off x="6035040" y="1280160"/>
            <a:ext cx="2560320" cy="301752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263640" y="1463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&lt; k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0116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Root dominates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2468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outside work f(n) outweighs the recursion</a:t>
            </a:r>
            <a:endParaRPr lang="en-US" sz="1400" dirty="0"/>
          </a:p>
        </p:txBody>
      </p:sp>
      <p:sp>
        <p:nvSpPr>
          <p:cNvPr id="20" name="result chip 3"/>
          <p:cNvSpPr/>
          <p:nvPr/>
        </p:nvSpPr>
        <p:spPr>
          <a:xfrm>
            <a:off x="6217920" y="3200400"/>
            <a:ext cx="2194560" cy="905256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0" y="3200400"/>
            <a:ext cx="21945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Θ(n^k · log^p n)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when p ≥ 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Case Table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3657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on 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T(n)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&gt; 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Θ(n^q)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&gt; 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Θ(n^k log^(p+1) 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Θ(n^k log log 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−1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Θ(n^k)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&lt; 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≥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Θ(n^k log^p 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&lt; 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&lt;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Θ(n^k)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T(n) = 4T(n/2) + n²</a:t>
            </a:r>
            <a:endParaRPr lang="en-US" sz="3000" dirty="0"/>
          </a:p>
        </p:txBody>
      </p:sp>
      <p:sp>
        <p:nvSpPr>
          <p:cNvPr id="4" name="given card"/>
          <p:cNvSpPr/>
          <p:nvPr/>
        </p:nvSpPr>
        <p:spPr>
          <a:xfrm>
            <a:off x="548640" y="1280160"/>
            <a:ext cx="329184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GIVEN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T(n) = 4T(n/2) + n²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a = 4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b = 2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k = 2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p = 0</a:t>
            </a:r>
            <a:endParaRPr lang="en-US" sz="2000" dirty="0"/>
          </a:p>
        </p:txBody>
      </p:sp>
      <p:sp>
        <p:nvSpPr>
          <p:cNvPr id="8" name="example step 1"/>
          <p:cNvSpPr/>
          <p:nvPr/>
        </p:nvSpPr>
        <p:spPr>
          <a:xfrm>
            <a:off x="4114800" y="1280160"/>
            <a:ext cx="44805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</p:spPr>
      </p:sp>
      <p:sp>
        <p:nvSpPr>
          <p:cNvPr id="9" name="badge 1"/>
          <p:cNvSpPr/>
          <p:nvPr/>
        </p:nvSpPr>
        <p:spPr>
          <a:xfrm>
            <a:off x="4224528" y="13944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24528" y="13944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12801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Calculate q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280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 = log₂(4) = 2</a:t>
            </a:r>
            <a:endParaRPr lang="en-US" sz="1600" dirty="0"/>
          </a:p>
        </p:txBody>
      </p:sp>
      <p:sp>
        <p:nvSpPr>
          <p:cNvPr id="13" name="example step 2"/>
          <p:cNvSpPr/>
          <p:nvPr/>
        </p:nvSpPr>
        <p:spPr>
          <a:xfrm>
            <a:off x="4114800" y="2057400"/>
            <a:ext cx="44805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</p:spPr>
      </p:sp>
      <p:sp>
        <p:nvSpPr>
          <p:cNvPr id="14" name="badge 2"/>
          <p:cNvSpPr/>
          <p:nvPr/>
        </p:nvSpPr>
        <p:spPr>
          <a:xfrm>
            <a:off x="4224528" y="21717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224528" y="21717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84632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Compare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 = k, so Case 2</a:t>
            </a:r>
            <a:endParaRPr lang="en-US" sz="1600" dirty="0"/>
          </a:p>
        </p:txBody>
      </p:sp>
      <p:sp>
        <p:nvSpPr>
          <p:cNvPr id="18" name="example step 3"/>
          <p:cNvSpPr/>
          <p:nvPr/>
        </p:nvSpPr>
        <p:spPr>
          <a:xfrm>
            <a:off x="4114800" y="2834640"/>
            <a:ext cx="448056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</p:spPr>
      </p:sp>
      <p:sp>
        <p:nvSpPr>
          <p:cNvPr id="19" name="badge 3"/>
          <p:cNvSpPr/>
          <p:nvPr/>
        </p:nvSpPr>
        <p:spPr>
          <a:xfrm>
            <a:off x="4224528" y="29489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24528" y="29489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2834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Check p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12648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 = 0 &gt; −1 ✓</a:t>
            </a:r>
            <a:endParaRPr lang="en-US" sz="1600" dirty="0"/>
          </a:p>
        </p:txBody>
      </p:sp>
      <p:sp>
        <p:nvSpPr>
          <p:cNvPr id="23" name="example step 4"/>
          <p:cNvSpPr/>
          <p:nvPr/>
        </p:nvSpPr>
        <p:spPr>
          <a:xfrm>
            <a:off x="4114800" y="3611880"/>
            <a:ext cx="448056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4" name="badge 4"/>
          <p:cNvSpPr/>
          <p:nvPr/>
        </p:nvSpPr>
        <p:spPr>
          <a:xfrm>
            <a:off x="4224528" y="372618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24528" y="37261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3611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Result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1264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T(n) = Θ(n² log n)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n² log n?</a:t>
            </a:r>
            <a:endParaRPr lang="en-US" sz="3000" dirty="0"/>
          </a:p>
        </p:txBody>
      </p:sp>
      <p:sp>
        <p:nvSpPr>
          <p:cNvPr id="4" name="factor card 0"/>
          <p:cNvSpPr/>
          <p:nvPr/>
        </p:nvSpPr>
        <p:spPr>
          <a:xfrm>
            <a:off x="548640" y="1280160"/>
            <a:ext cx="2377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864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n²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work per level</a:t>
            </a:r>
            <a:endParaRPr lang="en-US" sz="1600" dirty="0"/>
          </a:p>
        </p:txBody>
      </p:sp>
      <p:sp>
        <p:nvSpPr>
          <p:cNvPr id="7" name="factor card 1"/>
          <p:cNvSpPr/>
          <p:nvPr/>
        </p:nvSpPr>
        <p:spPr>
          <a:xfrm>
            <a:off x="3383280" y="1280160"/>
            <a:ext cx="237744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38328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log₂ n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levels in the tree</a:t>
            </a:r>
            <a:endParaRPr lang="en-US" sz="1600" dirty="0"/>
          </a:p>
        </p:txBody>
      </p:sp>
      <p:sp>
        <p:nvSpPr>
          <p:cNvPr id="10" name="total card"/>
          <p:cNvSpPr/>
          <p:nvPr/>
        </p:nvSpPr>
        <p:spPr>
          <a:xfrm>
            <a:off x="6217920" y="1280160"/>
            <a:ext cx="2377440" cy="201168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5087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n² log n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final complexity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×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=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4"/>
                </a:solidFill>
              </a:rPr>
              <a:t>When q = k, no single level dominates, so the log n levels multiply the per-level cost.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Bounds Grow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hart note"/>
          <p:cNvSpPr/>
          <p:nvPr/>
        </p:nvSpPr>
        <p:spPr>
          <a:xfrm>
            <a:off x="6309360" y="1280160"/>
            <a:ext cx="2286000" cy="310896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9525">
            <a:solidFill>
              <a:srgbClr val="DCE3E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649224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READING IT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6492240" y="1828800"/>
            <a:ext cx="1965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n = 64, n² log n is 6x larger than n²: the log₂ 64 = 6 levels each add n² work.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akeaway 1"/>
          <p:cNvSpPr/>
          <p:nvPr/>
        </p:nvSpPr>
        <p:spPr>
          <a:xfrm>
            <a:off x="548640" y="1280160"/>
            <a:ext cx="804672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731520" y="141274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27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28016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Write it as T(n) = aT(n/b) + f(n)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28016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Pull out a, b, k and p first.</a:t>
            </a:r>
            <a:endParaRPr lang="en-US" sz="1400" dirty="0"/>
          </a:p>
        </p:txBody>
      </p:sp>
      <p:sp>
        <p:nvSpPr>
          <p:cNvPr id="8" name="takeaway 2"/>
          <p:cNvSpPr/>
          <p:nvPr/>
        </p:nvSpPr>
        <p:spPr>
          <a:xfrm>
            <a:off x="548640" y="2103120"/>
            <a:ext cx="804672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731520" y="223570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2357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10312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q = log_b(a) is the benchmark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10312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It sets how fast the leaves grow.</a:t>
            </a:r>
            <a:endParaRPr lang="en-US" sz="1400" dirty="0"/>
          </a:p>
        </p:txBody>
      </p:sp>
      <p:sp>
        <p:nvSpPr>
          <p:cNvPr id="13" name="takeaway 3"/>
          <p:cNvSpPr/>
          <p:nvPr/>
        </p:nvSpPr>
        <p:spPr>
          <a:xfrm>
            <a:off x="548640" y="2926080"/>
            <a:ext cx="804672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731520" y="305866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0586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292608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Compare q with k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92608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Leaves, balance or root: three regimes.</a:t>
            </a:r>
            <a:endParaRPr lang="en-US" sz="1400" dirty="0"/>
          </a:p>
        </p:txBody>
      </p:sp>
      <p:sp>
        <p:nvSpPr>
          <p:cNvPr id="18" name="takeaway 4"/>
          <p:cNvSpPr/>
          <p:nvPr/>
        </p:nvSpPr>
        <p:spPr>
          <a:xfrm>
            <a:off x="548640" y="3749040"/>
            <a:ext cx="804672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731520" y="3881628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8816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749040"/>
            <a:ext cx="3931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Check p when q = k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3749040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It decides the log factor in the answer.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ecutive Navy">
  <a:themeElements>
    <a:clrScheme name="Executive Navy">
      <a:dk1>
        <a:srgbClr val="14213D"/>
      </a:dk1>
      <a:lt1>
        <a:srgbClr val="FFFFFF"/>
      </a:lt1>
      <a:dk2>
        <a:srgbClr val="27406E"/>
      </a:dk2>
      <a:lt2>
        <a:srgbClr val="EEF2F9"/>
      </a:lt2>
      <a:accent1>
        <a:srgbClr val="0E7C86"/>
      </a:accent1>
      <a:accent2>
        <a:srgbClr val="E0A030"/>
      </a:accent2>
      <a:accent3>
        <a:srgbClr val="27406E"/>
      </a:accent3>
      <a:accent4>
        <a:srgbClr val="55637A"/>
      </a:accent4>
      <a:accent5>
        <a:srgbClr val="C8553D"/>
      </a:accent5>
      <a:accent6>
        <a:srgbClr val="CADCFC"/>
      </a:accent6>
      <a:hlink>
        <a:srgbClr val="0E7C86"/>
      </a:hlink>
      <a:folHlink>
        <a:srgbClr val="55637A"/>
      </a:folHlink>
    </a:clrScheme>
    <a:fontScheme name="Executive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Predict Time Complexity</dc:title>
  <dc:subject>PptxGenJS Presentation</dc:subject>
  <dc:creator>Algorithm Analysis</dc:creator>
  <cp:lastModifiedBy>Algorithm Analysis</cp:lastModifiedBy>
  <cp:revision>1</cp:revision>
  <dcterms:created xsi:type="dcterms:W3CDTF">2026-10-20T09:01:53Z</dcterms:created>
  <dcterms:modified xsi:type="dcterms:W3CDTF">2026-10-20T09:01:53Z</dcterms:modified>
</cp:coreProperties>
</file>